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B5CE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8229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B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ACADEMY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That Open</a:t>
            </a:r>
            <a:endParaRPr lang="en-US" sz="48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Doors.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11480" y="3090672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affordable, accredited digital learning platform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African educators and learners.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393192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 ·  R1 Million  ·  Johannesburg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425196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Pace Tech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92240" y="1005840"/>
            <a:ext cx="2286000" cy="3200400"/>
          </a:xfrm>
          <a:prstGeom prst="roundRect">
            <a:avLst>
              <a:gd name="adj" fmla="val 4800"/>
            </a:avLst>
          </a:prstGeom>
          <a:solidFill>
            <a:srgbClr val="1E2D4A"/>
          </a:solidFill>
          <a:ln w="19050">
            <a:solidFill>
              <a:srgbClr val="2B5C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11556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60.9%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492240" y="17830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unemployment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15–24 in SA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(StatsSA Q1 2026)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766560" y="2487168"/>
            <a:ext cx="1737360" cy="0"/>
          </a:xfrm>
          <a:prstGeom prst="line">
            <a:avLst/>
          </a:prstGeom>
          <a:noFill/>
          <a:ln w="9525">
            <a:solidFill>
              <a:srgbClr val="2B40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57860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 Million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92240" y="29992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people aged 15–34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unemployed right now.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92240" y="352044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problem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solving.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B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the Platform We Wish Had Existed.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53035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went through skills development bootcamps ourselves. We sat in the same classrooms, faced the same barriers, and entered the same job market as the youth we are building this for.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828800"/>
            <a:ext cx="53035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watched people with real talent get blocked by a single piece of paper they could not afford. A young person who is brilliant at coding, or design, or accounting — but cannot afford the R40,000 course that gives them the certificate that gets them through the door.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633472"/>
            <a:ext cx="53035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not a skills problem. That is a systems problem. So we built the system that fixes it.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35040" y="914400"/>
            <a:ext cx="2743200" cy="36576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1005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172200" y="1481328"/>
            <a:ext cx="2542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talent exists in South Africa. The educators exist. The students exist. What was missing was the platform.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2944368"/>
            <a:ext cx="2194560" cy="0"/>
          </a:xfrm>
          <a:prstGeom prst="line">
            <a:avLst/>
          </a:prstGeom>
          <a:noFill/>
          <a:ln w="12700">
            <a:solidFill>
              <a:srgbClr val="2B5C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3017520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Dono  ·  Co-Founder and CEO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72200" y="3291840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Tech  ·  Johannesburg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172200" y="3547872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Sihle Mofokeng  ·  Co-Founder and CTO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72200" y="3794760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Tech  ·  Johannesburg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Academy  |  Powered by Pace Tech  |  Johannesburg 2026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B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Access Problem. Not a Talent Problem.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1E2D4A"/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7043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60.9%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175564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unemployment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15–24 (StatsSA Q1 2026)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468880" y="1078992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1E2D4A"/>
          </a:solidFill>
          <a:ln w="12700">
            <a:solidFill>
              <a:srgbClr val="0EA59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17043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A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4.7M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560320" y="175564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people aged 15–34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unemployed in SA right now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17720" y="1078992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1E2D4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17043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R40K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09160" y="175564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one accredited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short course at private college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766560" y="1078992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1E2D4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17043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858000" y="175564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African-built LMS with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accreditation pathway and ZAR pricing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697480"/>
            <a:ext cx="8503920" cy="594360"/>
          </a:xfrm>
          <a:prstGeom prst="roundRect">
            <a:avLst>
              <a:gd name="adj" fmla="val 10769"/>
            </a:avLst>
          </a:prstGeom>
          <a:solidFill>
            <a:srgbClr val="1A2744"/>
          </a:solidFill>
          <a:ln w="6350">
            <a:solidFill>
              <a:srgbClr val="2B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697480"/>
            <a:ext cx="502920" cy="594360"/>
          </a:xfrm>
          <a:prstGeom prst="roundRect">
            <a:avLst>
              <a:gd name="adj" fmla="val 12727"/>
            </a:avLst>
          </a:prstGeom>
          <a:solidFill>
            <a:srgbClr val="2B5CE6"/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69748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2697480"/>
            <a:ext cx="7818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Accredited courses cost R5,000 to R40,000 at traditional colleges. For a township youth earning nothing, that is not a price. It is a wall.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383280"/>
            <a:ext cx="8503920" cy="594360"/>
          </a:xfrm>
          <a:prstGeom prst="roundRect">
            <a:avLst>
              <a:gd name="adj" fmla="val 10769"/>
            </a:avLst>
          </a:prstGeom>
          <a:solidFill>
            <a:srgbClr val="1A2744"/>
          </a:solidFill>
          <a:ln w="6350">
            <a:solidFill>
              <a:srgbClr val="2B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383280"/>
            <a:ext cx="502920" cy="594360"/>
          </a:xfrm>
          <a:prstGeom prst="roundRect">
            <a:avLst>
              <a:gd name="adj" fmla="val 12727"/>
            </a:avLst>
          </a:prstGeom>
          <a:solidFill>
            <a:srgbClr val="2B5CE6"/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38328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3383280"/>
            <a:ext cx="7818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platforms like YouTube and Udemy have no SETA or QCTO recognition. Employers in the formal sector reject unverified learning.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069080"/>
            <a:ext cx="8503920" cy="594360"/>
          </a:xfrm>
          <a:prstGeom prst="roundRect">
            <a:avLst>
              <a:gd name="adj" fmla="val 10769"/>
            </a:avLst>
          </a:prstGeom>
          <a:solidFill>
            <a:srgbClr val="1A2744"/>
          </a:solidFill>
          <a:ln w="6350">
            <a:solidFill>
              <a:srgbClr val="2B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4069080"/>
            <a:ext cx="502920" cy="594360"/>
          </a:xfrm>
          <a:prstGeom prst="roundRect">
            <a:avLst>
              <a:gd name="adj" fmla="val 12727"/>
            </a:avLst>
          </a:prstGeom>
          <a:solidFill>
            <a:srgbClr val="2B5CE6"/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06908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4069080"/>
            <a:ext cx="7818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LMS platforms (Moodle, Coursera, Teachable) were not built for Africa. Wrong currency, wrong language, wrong context, wrong price.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Academy  |  Powered by Pace Tech  |  Johannesburg 2026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B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THE 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Academy — A Full-Stack LMS Built for Africa.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Academy is a complete Learning Management System built from the ground up in Johannesburg. It gives educators a professional platform to build and deliver courses, and gives learners an interactive, engaging experience — online and on-site. Two pathways: affordable non-accredited skills courses, and formally accredited NQF qualifications at prices that actually make sense for our market.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847088"/>
            <a:ext cx="269748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1938528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Two Course Pathways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8056" y="2249424"/>
            <a:ext cx="245059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Non-accredited skills courses from R250/month. Accredited NQF courses from R1,000/month per learner. Both on one platform.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72968" y="1847088"/>
            <a:ext cx="269748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00984" y="1938528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In-Browser Code Execution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00984" y="2249424"/>
            <a:ext cx="245059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write and run Python, JavaScript, Java and C++ directly in the browser. No installations. No hardware barriers.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25896" y="1847088"/>
            <a:ext cx="269748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53912" y="1938528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Interactive Video System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53912" y="2249424"/>
            <a:ext cx="245059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video at any timestamp, inject a question, learner must answer before resuming. Unique in the South African market.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3310128"/>
            <a:ext cx="269748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" y="3401568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Deep Analytics Dashboard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" y="3712464"/>
            <a:ext cx="245059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learner: time spent, sections viewed, quiz scores, video watch percentage, and assignment submissions.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72968" y="3310128"/>
            <a:ext cx="269748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00984" y="3401568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Auto-Generated Certificates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00984" y="3712464"/>
            <a:ext cx="245059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issued automatically on course completion. Digitally verifiable. Ready for a CV the same day.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25896" y="3310128"/>
            <a:ext cx="269748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53912" y="3401568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Course Builder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53912" y="3712464"/>
            <a:ext cx="245059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educator can build a full structured course in under an hour. Modules, quizzes, video, PDFs, code assignments — all built in.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Academy  |  Powered by Pace Tech  |  Johannesburg 2026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B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COURSE PATHWAYS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Pathways. One Platform. Every Learner Covered.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416052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87552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1  —  NON-ACCREDITED COURSES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skills. No prerequisites. Start today.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Fullstack Web Development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95681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JavaScript, Python, databases and deployment. 12-week structured programme.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221284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Office Administration and Computing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4505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Office, Excel, professional email, data entry and business admin. 8-week programme.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270662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Digital Marketing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94436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media, content creation, SEO basics and online presence. Practical and immediately employable.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Excel and Data Basics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43814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Spreadsheets, formulas, charts and data analysis. Skills every SA employer expects.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44805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Completion issued on every course.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498848" y="960120"/>
            <a:ext cx="0" cy="38953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79392" y="2743200"/>
            <a:ext cx="5852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987552"/>
            <a:ext cx="416052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987552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2  —  QCTO ACCREDITED (NQF LEVEL 5)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137160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Nationally recognised qualifications. Employer-verified.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17190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Software Development NQF5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199339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programme. Frontend, backend, databases, Git, software engineering principles and QCTO assessment.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0" y="26791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Systems Support NQF5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295351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programme. Hardware, Windows, Linux, networking, ITIL service management and QCTO assessment.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0" y="422452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QCTO-accredited NQF5 certificate issued on completion.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Recognised by all South African employers.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Academy  |  Powered by Pace Tech  |  Johannesburg 2026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B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PRICING — NON-ACCREDITED COURSES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Skills Courses. Flexible Group Packages.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Non-accredited courses are priced per learner per month. The more learners your organisation or institution enrolls, the lower the per-learner rate. Packages scale to fit community centres, corporate teams, and training providers.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92608" y="1572768"/>
            <a:ext cx="2788920" cy="333756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" y="1664208"/>
            <a:ext cx="822960" cy="219456"/>
          </a:xfrm>
          <a:prstGeom prst="roundRect">
            <a:avLst>
              <a:gd name="adj" fmla="val 20833"/>
            </a:avLst>
          </a:prstGeom>
          <a:solidFill>
            <a:srgbClr val="2B5CE6"/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664208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20624" y="1938528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 Learners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0624" y="2194560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R350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20624" y="2761488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learner / per month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20624" y="2980944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R3,500/month total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0624" y="3246120"/>
            <a:ext cx="25420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3337560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Access to all non-accredited courses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0624" y="3630168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Pace Academy completion certificates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20624" y="3922776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Learner progress dashboard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20624" y="4215384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Email and in-app notifications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20624" y="4507992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Educator course builder access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0" y="1572768"/>
            <a:ext cx="2788920" cy="333756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8416" y="1664208"/>
            <a:ext cx="822960" cy="219456"/>
          </a:xfrm>
          <a:prstGeom prst="roundRect">
            <a:avLst>
              <a:gd name="adj" fmla="val 20833"/>
            </a:avLst>
          </a:prstGeom>
          <a:solidFill>
            <a:srgbClr val="0EA592"/>
          </a:solidFill>
          <a:ln w="12700">
            <a:solidFill>
              <a:srgbClr val="0EA59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28416" y="1664208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28416" y="1938528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35 Learners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28416" y="2194560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A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R300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3328416" y="2761488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learner / per month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28416" y="2980944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R10,500/month total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28416" y="3246120"/>
            <a:ext cx="25420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28416" y="3337560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Everything in Starter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328416" y="3630168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Dedicated coordinator account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28416" y="3922776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Bulk enrollment and CSV import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328416" y="4215384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Advanced analytics and reporting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328416" y="4507992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 email support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08192" y="1572768"/>
            <a:ext cx="2788920" cy="333756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36208" y="1664208"/>
            <a:ext cx="822960" cy="219456"/>
          </a:xfrm>
          <a:prstGeom prst="roundRect">
            <a:avLst>
              <a:gd name="adj" fmla="val 208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6208" y="1664208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36208" y="1938528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Learners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36208" y="2194560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R250</a:t>
            </a:r>
            <a:endParaRPr lang="en-US" sz="3800" dirty="0"/>
          </a:p>
        </p:txBody>
      </p:sp>
      <p:sp>
        <p:nvSpPr>
          <p:cNvPr id="37" name="Text 35"/>
          <p:cNvSpPr/>
          <p:nvPr/>
        </p:nvSpPr>
        <p:spPr>
          <a:xfrm>
            <a:off x="6236208" y="2761488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learner / per month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236208" y="2980944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R12,500+/month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236208" y="3246120"/>
            <a:ext cx="25420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36208" y="3337560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Everything in Growth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236208" y="3630168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onboarding session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236208" y="3922776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Branded learner portal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236208" y="4215384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Monthly progress reports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236208" y="4507992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Dedicated Pace Tech account manager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Academy  |  Powered by Pace Tech  |  Johannesburg 2026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B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PRICING — ACCREDITED NQF PROGRAMMES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QCTO-Accredited Learnerships. Priced for Our Market.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Accredited NQF Level 5 programmes are priced per learner per month over a 12-month learnership. The same qualification that costs R40,000 at a private college. Available on Pace Academy from R1,000 per learner per month.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92608" y="1572768"/>
            <a:ext cx="2788920" cy="3337560"/>
          </a:xfrm>
          <a:prstGeom prst="roundRect">
            <a:avLst>
              <a:gd name="adj" fmla="val 3934"/>
            </a:avLst>
          </a:prstGeom>
          <a:solidFill>
            <a:srgbClr val="1E2D4A"/>
          </a:solidFill>
          <a:ln w="15240">
            <a:solidFill>
              <a:srgbClr val="2B5C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" y="1664208"/>
            <a:ext cx="914400" cy="219456"/>
          </a:xfrm>
          <a:prstGeom prst="roundRect">
            <a:avLst>
              <a:gd name="adj" fmla="val 20833"/>
            </a:avLst>
          </a:prstGeom>
          <a:solidFill>
            <a:srgbClr val="2B5CE6"/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66420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20624" y="1938528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 Learners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0624" y="2194560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R1,500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20624" y="2724912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learner / per month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20624" y="2944368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R180,000/year total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0624" y="3163824"/>
            <a:ext cx="2542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rate: R400,000+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20624" y="3383280"/>
            <a:ext cx="2542032" cy="0"/>
          </a:xfrm>
          <a:prstGeom prst="line">
            <a:avLst/>
          </a:prstGeom>
          <a:noFill/>
          <a:ln w="9525">
            <a:solidFill>
              <a:srgbClr val="2B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3474720"/>
            <a:ext cx="2542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Software Development NQF5 or Systems Support NQF5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20624" y="3749040"/>
            <a:ext cx="2542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Pace Academy platform access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20624" y="4023360"/>
            <a:ext cx="2542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QCTO assessment and moderation support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20624" y="4297680"/>
            <a:ext cx="2542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Learner progress tracking dashboard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0624" y="4572000"/>
            <a:ext cx="2542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NQF5 certificate on successful completion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0" y="1572768"/>
            <a:ext cx="2788920" cy="3337560"/>
          </a:xfrm>
          <a:prstGeom prst="roundRect">
            <a:avLst>
              <a:gd name="adj" fmla="val 3934"/>
            </a:avLst>
          </a:prstGeom>
          <a:solidFill>
            <a:srgbClr val="1E2D4A"/>
          </a:solidFill>
          <a:ln w="15240">
            <a:solidFill>
              <a:srgbClr val="0EA59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28416" y="1664208"/>
            <a:ext cx="914400" cy="219456"/>
          </a:xfrm>
          <a:prstGeom prst="roundRect">
            <a:avLst>
              <a:gd name="adj" fmla="val 20833"/>
            </a:avLst>
          </a:prstGeom>
          <a:solidFill>
            <a:srgbClr val="0EA592"/>
          </a:solidFill>
          <a:ln w="12700">
            <a:solidFill>
              <a:srgbClr val="0EA59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28416" y="166420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28416" y="1938528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25 Learners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28416" y="2194560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A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R1,200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3328416" y="2724912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learner / per month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28416" y="2944368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R360,000/year total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28416" y="3163824"/>
            <a:ext cx="2542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rate: R1,000,000+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328416" y="3383280"/>
            <a:ext cx="2542032" cy="0"/>
          </a:xfrm>
          <a:prstGeom prst="line">
            <a:avLst/>
          </a:prstGeom>
          <a:noFill/>
          <a:ln w="9525">
            <a:solidFill>
              <a:srgbClr val="2B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474720"/>
            <a:ext cx="2542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Everything in Foundation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28416" y="3749040"/>
            <a:ext cx="2542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Dedicated training coordinator access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28416" y="4023360"/>
            <a:ext cx="2542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Bulk learner onboarding support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28416" y="4297680"/>
            <a:ext cx="2542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Monthly cohort progress reports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28416" y="4572000"/>
            <a:ext cx="2542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 QCTO submission support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108192" y="1572768"/>
            <a:ext cx="2788920" cy="3337560"/>
          </a:xfrm>
          <a:prstGeom prst="roundRect">
            <a:avLst>
              <a:gd name="adj" fmla="val 3934"/>
            </a:avLst>
          </a:prstGeom>
          <a:solidFill>
            <a:srgbClr val="1E2D4A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36208" y="1664208"/>
            <a:ext cx="914400" cy="219456"/>
          </a:xfrm>
          <a:prstGeom prst="roundRect">
            <a:avLst>
              <a:gd name="adj" fmla="val 208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36208" y="166420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36208" y="1938528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Learners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36208" y="2194560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R1,000</a:t>
            </a:r>
            <a:endParaRPr lang="en-US" sz="3600" dirty="0"/>
          </a:p>
        </p:txBody>
      </p:sp>
      <p:sp>
        <p:nvSpPr>
          <p:cNvPr id="39" name="Text 37"/>
          <p:cNvSpPr/>
          <p:nvPr/>
        </p:nvSpPr>
        <p:spPr>
          <a:xfrm>
            <a:off x="6236208" y="2724912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learner / per month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236208" y="2944368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R600,000+/year total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36208" y="3163824"/>
            <a:ext cx="2542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rate: R2,000,000+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236208" y="3383280"/>
            <a:ext cx="2542032" cy="0"/>
          </a:xfrm>
          <a:prstGeom prst="line">
            <a:avLst/>
          </a:prstGeom>
          <a:noFill/>
          <a:ln w="9525">
            <a:solidFill>
              <a:srgbClr val="2B3A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36208" y="3474720"/>
            <a:ext cx="2542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Everything in Scale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236208" y="3749040"/>
            <a:ext cx="2542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branded learner portal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236208" y="4023360"/>
            <a:ext cx="2542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Dedicated Pace Tech account manager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236208" y="4297680"/>
            <a:ext cx="2542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Quarterly in-person review sessions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236208" y="4572000"/>
            <a:ext cx="2542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First priority for new NQF programmes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Academy  |  Powered by Pace Tech  |  Johannesburg 2026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B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REVENUE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Revenue Streams. All on One Platform.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64008" cy="1170432"/>
          </a:xfrm>
          <a:prstGeom prst="roundRect">
            <a:avLst>
              <a:gd name="adj" fmla="val 71429"/>
            </a:avLst>
          </a:prstGeom>
          <a:solidFill>
            <a:srgbClr val="2B5CE6"/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097280"/>
            <a:ext cx="347472" cy="237744"/>
          </a:xfrm>
          <a:prstGeom prst="roundRect">
            <a:avLst>
              <a:gd name="adj" fmla="val 15385"/>
            </a:avLst>
          </a:prstGeom>
          <a:solidFill>
            <a:srgbClr val="2B5CE6"/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097280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1078992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Non-Accredited Course Packages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353312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R250–R350/learner/month. Scales with cohort size. Recurring monthly subscription.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703320" y="138988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R150K+ Year 1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005840"/>
            <a:ext cx="64008" cy="1170432"/>
          </a:xfrm>
          <a:prstGeom prst="roundRect">
            <a:avLst>
              <a:gd name="adj" fmla="val 71429"/>
            </a:avLst>
          </a:prstGeom>
          <a:solidFill>
            <a:srgbClr val="0EA592"/>
          </a:solidFill>
          <a:ln w="12700">
            <a:solidFill>
              <a:srgbClr val="0EA59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19472" y="1097280"/>
            <a:ext cx="347472" cy="237744"/>
          </a:xfrm>
          <a:prstGeom prst="roundRect">
            <a:avLst>
              <a:gd name="adj" fmla="val 15385"/>
            </a:avLst>
          </a:prstGeom>
          <a:solidFill>
            <a:srgbClr val="0EA592"/>
          </a:solidFill>
          <a:ln w="12700">
            <a:solidFill>
              <a:srgbClr val="0EA59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1097280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49240" y="1078992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Accredited NQF Learnerships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49240" y="1353312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R1,000–R1,500/learner/month over 12 months. Highest value per learner.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138160" y="138988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A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R400K+ Year 1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2286000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286000"/>
            <a:ext cx="64008" cy="1170432"/>
          </a:xfrm>
          <a:prstGeom prst="roundRect">
            <a:avLst>
              <a:gd name="adj" fmla="val 714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" y="2377440"/>
            <a:ext cx="347472" cy="237744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2377440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14400" y="2359152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Learnership Sponsorship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" y="2633472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Corporates sponsor learners at R6,500/month. 6 months training, 6 months workplace.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03320" y="267004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R750K per partner/yr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54880" y="2286000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286000"/>
            <a:ext cx="64008" cy="1170432"/>
          </a:xfrm>
          <a:prstGeom prst="roundRect">
            <a:avLst>
              <a:gd name="adj" fmla="val 71429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19472" y="2377440"/>
            <a:ext cx="347472" cy="237744"/>
          </a:xfrm>
          <a:prstGeom prst="roundRect">
            <a:avLst>
              <a:gd name="adj" fmla="val 15385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2377440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349240" y="2359152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 SaaS Subscription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49240" y="2633472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educators pay R199–R599/month to host and sell their own courses.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138160" y="267004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R180K ARR Year 1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3566160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566160"/>
            <a:ext cx="64008" cy="1170432"/>
          </a:xfrm>
          <a:prstGeom prst="roundRect">
            <a:avLst>
              <a:gd name="adj" fmla="val 714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" y="3657600"/>
            <a:ext cx="347472" cy="237744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" y="3657600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914400" y="3639312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and NGO Licensing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14400" y="3913632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flat fee for schools, colleges, and NGOs. R5,000–R50,000/year.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703320" y="395020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R100K Year 1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54880" y="3566160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3566160"/>
            <a:ext cx="64008" cy="1170432"/>
          </a:xfrm>
          <a:prstGeom prst="roundRect">
            <a:avLst>
              <a:gd name="adj" fmla="val 71429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19472" y="3657600"/>
            <a:ext cx="347472" cy="237744"/>
          </a:xfrm>
          <a:prstGeom prst="roundRect">
            <a:avLst>
              <a:gd name="adj" fmla="val 15385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19472" y="3657600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349240" y="3639312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(Marketplace)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349240" y="3913632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Academy takes 15–20% when educators sell courses publicly through the platform.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138160" y="395020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Year 2+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20040" y="4754880"/>
            <a:ext cx="8503920" cy="256032"/>
          </a:xfrm>
          <a:prstGeom prst="roundRect">
            <a:avLst>
              <a:gd name="adj" fmla="val 214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7548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Year 1 Total: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0" y="47548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R1,580,000+  (3 streams active, 1 corporate partner)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Academy  |  Powered by Pace Tech  |  Johannesburg 2026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B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CORPORATE PARTNERSHIP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12-Month Learnership. A Win For Everyone.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3268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spend R25,000+ to hire a junior developer. We give them a trained, assessed, work-ready candidate for R6,500/month — and the learner earns a guaranteed QCTO-accredited NQF5 qualification with real workplace experience built in.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566160" y="1508760"/>
            <a:ext cx="2011680" cy="658368"/>
          </a:xfrm>
          <a:prstGeom prst="roundRect">
            <a:avLst>
              <a:gd name="adj" fmla="val 13889"/>
            </a:avLst>
          </a:prstGeom>
          <a:solidFill>
            <a:srgbClr val="2B5CE6"/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150876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The Learner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377440"/>
            <a:ext cx="3657600" cy="2331720"/>
          </a:xfrm>
          <a:prstGeom prst="roundRect">
            <a:avLst>
              <a:gd name="adj" fmla="val 4706"/>
            </a:avLst>
          </a:prstGeom>
          <a:solidFill>
            <a:srgbClr val="1E2D4A"/>
          </a:solidFill>
          <a:ln w="19050">
            <a:solidFill>
              <a:srgbClr val="2B5C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450592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Pace Academy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2761488"/>
            <a:ext cx="3456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B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 TO 6  —  TRAINING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84048" y="3017520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Accredited NQF5 programme on Pace Academy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3337560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Online and on-site sessions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3657600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Progress tracked and reported to sponsor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3977640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Formative assessments throughout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4297680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QCTO summative assessment at end of Month 6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212080" y="2377440"/>
            <a:ext cx="3657600" cy="2331720"/>
          </a:xfrm>
          <a:prstGeom prst="roundRect">
            <a:avLst>
              <a:gd name="adj" fmla="val 4706"/>
            </a:avLst>
          </a:prstGeom>
          <a:solidFill>
            <a:srgbClr val="0D2B1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21808" y="2450592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Corporate Partner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21808" y="2761488"/>
            <a:ext cx="3456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 TO 12  —  WORKPLACE EXPERIENCE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321808" y="3017520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Learner placed at company for 6 months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21808" y="3337560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Works on real projects with a mentor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321808" y="3657600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Paid at R6,500/month by the company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21808" y="3977640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Company saves vs R25,000+ junior hire cost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21808" y="4297680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Option to offer permanent employment at end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913632" y="2167128"/>
            <a:ext cx="0" cy="201168"/>
          </a:xfrm>
          <a:prstGeom prst="line">
            <a:avLst/>
          </a:prstGeom>
          <a:noFill/>
          <a:ln w="19050">
            <a:solidFill>
              <a:srgbClr val="2B5C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13632" y="2368296"/>
            <a:ext cx="-1810512" cy="0"/>
          </a:xfrm>
          <a:prstGeom prst="line">
            <a:avLst/>
          </a:prstGeom>
          <a:noFill/>
          <a:ln w="19050">
            <a:solidFill>
              <a:srgbClr val="2B5C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30368" y="2167128"/>
            <a:ext cx="0" cy="201168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30368" y="2368296"/>
            <a:ext cx="1810512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4773168"/>
            <a:ext cx="5852160" cy="292608"/>
          </a:xfrm>
          <a:prstGeom prst="roundRect">
            <a:avLst>
              <a:gd name="adj" fmla="val 21875"/>
            </a:avLst>
          </a:prstGeom>
          <a:solidFill>
            <a:srgbClr val="14532D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37360" y="4773168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 Guaranteed learnership: QCTO NQF5 certificate + 6 months workplace experience = job-ready hire.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Academy  |  Powered by Pace Tech  |  Johannesburg 2026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B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TRACTION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Built. Not a Prototype. Not a Mockup.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Academy is fully operational. The platform is live at paceacademy.onrender.com. Every feature listed in this deck exists in the codebase today. We are not raising to build — we are raising to grow.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609344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1719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6968" y="170078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end-to-end platform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86968" y="1993392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creates course → learner enrolls → completes → certificate issued. The entire workflow works today.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609344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82896" y="1719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21808" y="170078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In-browser code execution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21808" y="1993392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JavaScript, Java and C++ run live in the browser. No installations required. Unique in the SA market.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688336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" y="2798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86968" y="277977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video system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6968" y="3072384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video at a timestamp, inject a question, learner must answer before the video resumes. Custom-built.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2688336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82896" y="2798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321808" y="277977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certificates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21808" y="3072384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digitally on course completion. Verifiable and shareable the same day.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767328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" y="38770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86968" y="385876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6968" y="4151376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Per-learner time on section, quiz scores, video watch percentage, and assignment tracking.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3767328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82896" y="38770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21808" y="385876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and moderation system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21808" y="4151376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approval workflow, user management, SMTP email notifications, platform reporting.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platform: paceacademy.onrender.com  |  Company: pacetech.dev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Academy  |  Powered by Pace Tech  |  Johannesburg 2026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B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COMPETITIVE LANDSCAPE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Out There. Why Pace Academy Wins.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932688"/>
            <a:ext cx="1444752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932688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737360" y="932688"/>
            <a:ext cx="2103120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73936" y="932688"/>
            <a:ext cx="2048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/ Offering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86200" y="932688"/>
            <a:ext cx="1316736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22776" y="93268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ZAR Pricing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230368" y="932688"/>
            <a:ext cx="1033272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66944" y="932688"/>
            <a:ext cx="978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Accredited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291072" y="932688"/>
            <a:ext cx="1033272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7648" y="932688"/>
            <a:ext cx="978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Execution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360920" y="932688"/>
            <a:ext cx="1527048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97496" y="932688"/>
            <a:ext cx="1472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to Youth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56032" y="1216152"/>
            <a:ext cx="8631936" cy="576072"/>
          </a:xfrm>
          <a:prstGeom prst="rect">
            <a:avLst/>
          </a:prstGeom>
          <a:solidFill>
            <a:srgbClr val="1E3A8A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" y="1252728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Academy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10896" y="1527048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paceacademy.onrender.com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773936" y="1216152"/>
            <a:ext cx="2048256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Dev, App Dev, Digital Marketing, Excel, Software Development NQF5, Systems Support NQF5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922776" y="1216152"/>
            <a:ext cx="126187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R250/mo non-accredited.</a:t>
            </a:r>
            <a:endParaRPr lang="en-US" sz="7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R1,000/mo accredited NQF5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230368" y="1216152"/>
            <a:ext cx="103327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91072" y="1216152"/>
            <a:ext cx="103327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60920" y="1216152"/>
            <a:ext cx="152704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56032" y="1837944"/>
            <a:ext cx="8631936" cy="576072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" y="1874520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HyperionDev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10896" y="2148840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hyperiondev.com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773936" y="1837944"/>
            <a:ext cx="2048256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Science, Full Stack, AI Software Dev, Cyber Security, Software Engineering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922776" y="1837944"/>
            <a:ext cx="126187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R49,999 upfront</a:t>
            </a:r>
            <a:endParaRPr lang="en-US" sz="7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(Full price R105,000)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230368" y="1837944"/>
            <a:ext cx="103327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91072" y="1837944"/>
            <a:ext cx="103327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360920" y="1837944"/>
            <a:ext cx="152704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56032" y="2459736"/>
            <a:ext cx="8631936" cy="57607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0896" y="2496312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Melsoft Academy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10896" y="2770632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melsoftacademy.com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773936" y="2459736"/>
            <a:ext cx="2048256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Software Dev, App Dev, Software Engineering, Blockchain, DevOps, Web Design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922776" y="2459736"/>
            <a:ext cx="126187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R8,995/course</a:t>
            </a:r>
            <a:endParaRPr lang="en-US" sz="7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Dev: R10,900–R65,400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230368" y="2459736"/>
            <a:ext cx="103327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91072" y="2459736"/>
            <a:ext cx="103327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360920" y="2459736"/>
            <a:ext cx="152704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56032" y="3081528"/>
            <a:ext cx="8631936" cy="576072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0896" y="3118104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WeThinkCode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10896" y="3392424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wethinkcode.co.za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773936" y="3081528"/>
            <a:ext cx="2048256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 only. 2-year NQF5 full-time on-campus programme.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922776" y="3081528"/>
            <a:ext cx="126187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(corporate-funded)</a:t>
            </a:r>
            <a:endParaRPr lang="en-US" sz="7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R2,000/mo learner stipend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230368" y="3081528"/>
            <a:ext cx="103327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291072" y="3081528"/>
            <a:ext cx="103327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360920" y="3081528"/>
            <a:ext cx="152704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256032" y="3703320"/>
            <a:ext cx="8631936" cy="57607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0896" y="3739896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Udemy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10896" y="4014216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udemy.com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773936" y="3703320"/>
            <a:ext cx="2048256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Dev, Python, Data Science, Business, Design (10,000+ global courses)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922776" y="3703320"/>
            <a:ext cx="126187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R200–R3,500/course</a:t>
            </a:r>
            <a:endParaRPr lang="en-US" sz="7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(USD-based, no ZAR)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230368" y="3703320"/>
            <a:ext cx="103327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6291072" y="3703320"/>
            <a:ext cx="103327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7360920" y="3703320"/>
            <a:ext cx="152704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256032" y="4325112"/>
            <a:ext cx="8631936" cy="576072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10896" y="4361688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Classroom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10896" y="4636008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classroom.google.com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1773936" y="4325112"/>
            <a:ext cx="2048256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Teacher-created content only. No public course catalogue or curriculum.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3922776" y="4325112"/>
            <a:ext cx="126187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5230368" y="4325112"/>
            <a:ext cx="103327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6291072" y="4325112"/>
            <a:ext cx="103327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7360920" y="4325112"/>
            <a:ext cx="152704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256032" y="4956048"/>
            <a:ext cx="86319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   ✗ No   ⚠ Limited / conditional     Sources: hyperiondev.com  |  melsoftacademy.com  |  wethinkcode.co.za  |  udemy.com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Academy  |  Powered by Pace Tech  |  Johannesburg 2026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B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MARKET SIZE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Market That Is Ready. And Growing.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011680" cy="1572768"/>
          </a:xfrm>
          <a:prstGeom prst="roundRect">
            <a:avLst>
              <a:gd name="adj" fmla="val 5814"/>
            </a:avLst>
          </a:prstGeom>
          <a:solidFill>
            <a:srgbClr val="1E2D4A"/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43000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$230M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1792224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e-learning market 2025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15% year on year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468880" y="1051560"/>
            <a:ext cx="2011680" cy="1572768"/>
          </a:xfrm>
          <a:prstGeom prst="roundRect">
            <a:avLst>
              <a:gd name="adj" fmla="val 5814"/>
            </a:avLst>
          </a:prstGeom>
          <a:solidFill>
            <a:srgbClr val="1E2D4A"/>
          </a:solidFill>
          <a:ln w="12700">
            <a:solidFill>
              <a:srgbClr val="0EA59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143000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A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$1.8B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560320" y="1792224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Sub-Saharan Africa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ed-tech market by 2028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17720" y="1051560"/>
            <a:ext cx="2011680" cy="1572768"/>
          </a:xfrm>
          <a:prstGeom prst="roundRect">
            <a:avLst>
              <a:gd name="adj" fmla="val 5814"/>
            </a:avLst>
          </a:prstGeom>
          <a:solidFill>
            <a:srgbClr val="1E2D4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143000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4.7M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709160" y="1792224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people aged 15–34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unemployed right now in SA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766560" y="1051560"/>
            <a:ext cx="2011680" cy="1572768"/>
          </a:xfrm>
          <a:prstGeom prst="roundRect">
            <a:avLst>
              <a:gd name="adj" fmla="val 5814"/>
            </a:avLst>
          </a:prstGeom>
          <a:solidFill>
            <a:srgbClr val="1E2D4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143000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80%+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858000" y="1792224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educators with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digital platform at all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788920"/>
            <a:ext cx="8503920" cy="594360"/>
          </a:xfrm>
          <a:prstGeom prst="roundRect">
            <a:avLst>
              <a:gd name="adj" fmla="val 10769"/>
            </a:avLst>
          </a:prstGeom>
          <a:solidFill>
            <a:srgbClr val="1A2744"/>
          </a:solidFill>
          <a:ln w="6350">
            <a:solidFill>
              <a:srgbClr val="2B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788920"/>
            <a:ext cx="64008" cy="594360"/>
          </a:xfrm>
          <a:prstGeom prst="roundRect">
            <a:avLst>
              <a:gd name="adj" fmla="val 71429"/>
            </a:avLst>
          </a:prstGeom>
          <a:solidFill>
            <a:srgbClr val="2B5CE6"/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843784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skilled South Africans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24912" y="2788920"/>
            <a:ext cx="6016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Tradespeople, professionals, subject matter experts. Zero way to monetise their knowledge online. Pace Academy is the platform that unlocks that.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474720"/>
            <a:ext cx="8503920" cy="594360"/>
          </a:xfrm>
          <a:prstGeom prst="roundRect">
            <a:avLst>
              <a:gd name="adj" fmla="val 10769"/>
            </a:avLst>
          </a:prstGeom>
          <a:solidFill>
            <a:srgbClr val="1A2744"/>
          </a:solidFill>
          <a:ln w="6350">
            <a:solidFill>
              <a:srgbClr val="2B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474720"/>
            <a:ext cx="64008" cy="594360"/>
          </a:xfrm>
          <a:prstGeom prst="roundRect">
            <a:avLst>
              <a:gd name="adj" fmla="val 71429"/>
            </a:avLst>
          </a:prstGeom>
          <a:solidFill>
            <a:srgbClr val="2B5CE6"/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529584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upskilling is mandatory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24912" y="3474720"/>
            <a:ext cx="6016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African companies are legally required to spend on skills development through SETA levies. Pace Academy is a qualifying expenditure.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4160520"/>
            <a:ext cx="8503920" cy="594360"/>
          </a:xfrm>
          <a:prstGeom prst="roundRect">
            <a:avLst>
              <a:gd name="adj" fmla="val 10769"/>
            </a:avLst>
          </a:prstGeom>
          <a:solidFill>
            <a:srgbClr val="1A2744"/>
          </a:solidFill>
          <a:ln w="6350">
            <a:solidFill>
              <a:srgbClr val="2B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4160520"/>
            <a:ext cx="64008" cy="594360"/>
          </a:xfrm>
          <a:prstGeom prst="roundRect">
            <a:avLst>
              <a:gd name="adj" fmla="val 71429"/>
            </a:avLst>
          </a:prstGeom>
          <a:solidFill>
            <a:srgbClr val="2B5CE6"/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4215384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is actively deploying budget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724912" y="4160520"/>
            <a:ext cx="6016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NYDA, DHET, and SETA bodies are actively seeking digital, community-based delivery partners. Pace Academy and our community partners are exactly that.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Academy  |  Powered by Pace Tech  |  Johannesburg 2026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B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GO-TO-MARKET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Phases. Twelve Months. Market Leadership.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92608" y="987552"/>
            <a:ext cx="2788920" cy="3950208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0624" y="1078992"/>
            <a:ext cx="384048" cy="274320"/>
          </a:xfrm>
          <a:prstGeom prst="roundRect">
            <a:avLst>
              <a:gd name="adj" fmla="val 16667"/>
            </a:avLst>
          </a:prstGeom>
          <a:solidFill>
            <a:srgbClr val="2B5CE6"/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078992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77824" y="1078992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Networks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0624" y="1389888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0624" y="1664208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Direct outreach to coding bootcamps, tutoring centres and community centres in JHB, CPT, Durban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0624" y="2212848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10 founding educators on free premium access in exchange for testimonials and referrals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0624" y="2761488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SETA-accredited training providers approached as platform clients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0624" y="3310128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Community centre partnerships activated (Batho Pele model replicated)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18688" y="987552"/>
            <a:ext cx="2788920" cy="3950208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46704" y="1078992"/>
            <a:ext cx="384048" cy="274320"/>
          </a:xfrm>
          <a:prstGeom prst="roundRect">
            <a:avLst>
              <a:gd name="adj" fmla="val 16667"/>
            </a:avLst>
          </a:prstGeom>
          <a:solidFill>
            <a:srgbClr val="0EA592"/>
          </a:solidFill>
          <a:ln w="12700">
            <a:solidFill>
              <a:srgbClr val="0EA59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46704" y="1078992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03904" y="1078992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and Content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46704" y="1389888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3–6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46704" y="1664208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YouTube and TikTok: show educators building a full course in under 30 minutes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46704" y="2212848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LinkedIn targeting HR managers and L&amp;D heads on upskilling ROI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46704" y="2761488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Enter Red Bull Basement, SAB Foundation, Anzisha Prize competitions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46704" y="3310128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Referral engine: educators earn 1 free month per new paying educator they refer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44768" y="987552"/>
            <a:ext cx="2788920" cy="3950208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72784" y="1078992"/>
            <a:ext cx="384048" cy="274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72784" y="1078992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29984" y="1078992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and Corporate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72784" y="1389888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6–12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272784" y="1664208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White-label approach to private colleges, IIE, Damelin and training institutes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72784" y="2212848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Corporate L&amp;D pipeline via HR software resellers as distribution partners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72784" y="2761488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Government tenders: DHET digital skills, NYDA youth programmes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72784" y="3310128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First corporate learnership partnership signed and running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Academy  |  Powered by Pace Tech  |  Johannesburg 2026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B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FINANCIAL PROJECTIONS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Growth Model.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8631936" cy="374904"/>
          </a:xfrm>
          <a:prstGeom prst="rect">
            <a:avLst/>
          </a:prstGeom>
          <a:solidFill>
            <a:srgbClr val="1E293B"/>
          </a:solidFill>
          <a:ln w="5080">
            <a:solidFill>
              <a:srgbClr val="2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42416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B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523744" y="1042416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— Validate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45152" y="1042416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— Grow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766560" y="1042416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— Scale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" y="1389888"/>
            <a:ext cx="8631936" cy="374904"/>
          </a:xfrm>
          <a:prstGeom prst="rect">
            <a:avLst/>
          </a:prstGeom>
          <a:solidFill>
            <a:srgbClr val="162035"/>
          </a:solidFill>
          <a:ln w="5080">
            <a:solidFill>
              <a:srgbClr val="2B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44752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educators (SaaS)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523744" y="1444752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645152" y="1444752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766560" y="1444752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6032" y="1792224"/>
            <a:ext cx="8631936" cy="374904"/>
          </a:xfrm>
          <a:prstGeom prst="rect">
            <a:avLst/>
          </a:prstGeom>
          <a:solidFill>
            <a:srgbClr val="1E2D4A"/>
          </a:solidFill>
          <a:ln w="5080">
            <a:solidFill>
              <a:srgbClr val="2B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847088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Non-accredited learners enrolled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523744" y="1847088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45152" y="1847088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766560" y="1847088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2194560"/>
            <a:ext cx="8631936" cy="374904"/>
          </a:xfrm>
          <a:prstGeom prst="rect">
            <a:avLst/>
          </a:prstGeom>
          <a:solidFill>
            <a:srgbClr val="162035"/>
          </a:solidFill>
          <a:ln w="5080">
            <a:solidFill>
              <a:srgbClr val="2B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249424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subscription revenue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523744" y="2249424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R150,000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645152" y="2249424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R1,200,000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766560" y="2249424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R6,000,000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6032" y="2596896"/>
            <a:ext cx="8631936" cy="374904"/>
          </a:xfrm>
          <a:prstGeom prst="rect">
            <a:avLst/>
          </a:prstGeom>
          <a:solidFill>
            <a:srgbClr val="1E2D4A"/>
          </a:solidFill>
          <a:ln w="5080">
            <a:solidFill>
              <a:srgbClr val="2B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65176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Accredited NQF enrollments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23744" y="2651760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learners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645152" y="2651760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learners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766560" y="2651760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learners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032" y="2999232"/>
            <a:ext cx="8631936" cy="374904"/>
          </a:xfrm>
          <a:prstGeom prst="rect">
            <a:avLst/>
          </a:prstGeom>
          <a:solidFill>
            <a:srgbClr val="162035"/>
          </a:solidFill>
          <a:ln w="5080">
            <a:solidFill>
              <a:srgbClr val="2B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054096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Accredited course revenue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523744" y="3054096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R400,000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645152" y="3054096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R2,000,000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766560" y="3054096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R9,000,000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56032" y="3401568"/>
            <a:ext cx="8631936" cy="374904"/>
          </a:xfrm>
          <a:prstGeom prst="rect">
            <a:avLst/>
          </a:prstGeom>
          <a:solidFill>
            <a:srgbClr val="1E2D4A"/>
          </a:solidFill>
          <a:ln w="5080">
            <a:solidFill>
              <a:srgbClr val="2B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456432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partners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523744" y="3456432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645152" y="3456432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766560" y="3456432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56032" y="3803904"/>
            <a:ext cx="8631936" cy="374904"/>
          </a:xfrm>
          <a:prstGeom prst="rect">
            <a:avLst/>
          </a:prstGeom>
          <a:solidFill>
            <a:srgbClr val="162035"/>
          </a:solidFill>
          <a:ln w="5080">
            <a:solidFill>
              <a:srgbClr val="2B3A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858768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learnership revenue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523744" y="3858768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R390,000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645152" y="3858768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R1,950,000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766560" y="3858768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R7,800,000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56032" y="4206240"/>
            <a:ext cx="8631936" cy="374904"/>
          </a:xfrm>
          <a:prstGeom prst="rect">
            <a:avLst/>
          </a:prstGeom>
          <a:solidFill>
            <a:srgbClr val="1E2D4A"/>
          </a:solidFill>
          <a:ln w="5080">
            <a:solidFill>
              <a:srgbClr val="2B3A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261104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licenses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523744" y="4261104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645152" y="4261104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766560" y="4261104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56032" y="4608576"/>
            <a:ext cx="8631936" cy="374904"/>
          </a:xfrm>
          <a:prstGeom prst="rect">
            <a:avLst/>
          </a:prstGeom>
          <a:solidFill>
            <a:srgbClr val="2B5CE6"/>
          </a:solidFill>
          <a:ln w="5080">
            <a:solidFill>
              <a:srgbClr val="2B3A5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466344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(Annual)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523744" y="4663440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~R1,000,000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645152" y="4663440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~R5,500,000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766560" y="4663440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~R23,000,000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Academy  |  Powered by Pace Tech  |  Johannesburg 2026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B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THE ASK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Raising R1 Million.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seed round takes Pace Academy from a fully built platform to a business with 50 paying educators, 1,000 enrolled learners, one corporate learnership partner, and the first accreditation signed. Everything needed to prove the model before a Series A.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85039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91640"/>
            <a:ext cx="64008" cy="621792"/>
          </a:xfrm>
          <a:prstGeom prst="roundRect">
            <a:avLst>
              <a:gd name="adj" fmla="val 71429"/>
            </a:avLst>
          </a:prstGeom>
          <a:solidFill>
            <a:srgbClr val="2B5CE6"/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764792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and Educator Acquisition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" y="2020824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Partnerships, founding educator programme, community centre rollouts, events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0" y="169164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R400,000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386584"/>
            <a:ext cx="85039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386584"/>
            <a:ext cx="64008" cy="621792"/>
          </a:xfrm>
          <a:prstGeom prst="roundRect">
            <a:avLst>
              <a:gd name="adj" fmla="val 71429"/>
            </a:avLst>
          </a:prstGeom>
          <a:solidFill>
            <a:srgbClr val="0EA592"/>
          </a:solidFill>
          <a:ln w="12700">
            <a:solidFill>
              <a:srgbClr val="0EA59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459736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and Security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" y="27157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Hosting, CDN, code execution sandboxing, penetration testing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0" y="2386584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A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R250,000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081528"/>
            <a:ext cx="85039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081528"/>
            <a:ext cx="64008" cy="621792"/>
          </a:xfrm>
          <a:prstGeom prst="roundRect">
            <a:avLst>
              <a:gd name="adj" fmla="val 714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15468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QCTO Accreditation and Legal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" y="341071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QCTO/SETA accreditation process, legal, IP registration, consultant fees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0" y="3081528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R200,000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3776472"/>
            <a:ext cx="85039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776472"/>
            <a:ext cx="64008" cy="621792"/>
          </a:xfrm>
          <a:prstGeom prst="roundRect">
            <a:avLst>
              <a:gd name="adj" fmla="val 71429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849624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and Operations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5488" y="4105656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Operations, team support, facilitator contracts and platform maintenance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0" y="3776472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R150,000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0040" y="4498848"/>
            <a:ext cx="8503920" cy="347472"/>
          </a:xfrm>
          <a:prstGeom prst="roundRect">
            <a:avLst>
              <a:gd name="adj" fmla="val 1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4988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Raise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44988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R1,000,000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Academy  |  Powered by Pace Tech  |  Johannesburg 2026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B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THE TEAM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Pace Tech. By People Who Lived the Problem.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 not research this from the outside. We went through skills development bootcamps ourselves. We faced the same barriers. We built the platform we wish had existed.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4206240" cy="3401568"/>
          </a:xfrm>
          <a:prstGeom prst="roundRect">
            <a:avLst>
              <a:gd name="adj" fmla="val 3226"/>
            </a:avLst>
          </a:prstGeom>
          <a:solidFill>
            <a:srgbClr val="1E2D4A"/>
          </a:solidFill>
          <a:ln w="19050">
            <a:solidFill>
              <a:srgbClr val="2B5C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600200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2B5CE6"/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6002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52728" y="162763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Dono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52728" y="193852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and CEO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4632" y="23317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Fullstack developer. 4 years professional experience.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" y="257860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product direction, business strategy, investor relations, and commercial partnerships for Pace Academy.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" y="3218688"/>
            <a:ext cx="3749040" cy="0"/>
          </a:xfrm>
          <a:prstGeom prst="line">
            <a:avLst/>
          </a:prstGeom>
          <a:noFill/>
          <a:ln w="9525">
            <a:solidFill>
              <a:srgbClr val="2B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33101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Product and Platform Vision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" y="36576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Business Development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" y="40050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Investor Relations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" y="435254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Community Partnerships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1508760"/>
            <a:ext cx="4206240" cy="3401568"/>
          </a:xfrm>
          <a:prstGeom prst="roundRect">
            <a:avLst>
              <a:gd name="adj" fmla="val 3226"/>
            </a:avLst>
          </a:prstGeom>
          <a:solidFill>
            <a:srgbClr val="1E2D4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19472" y="1600200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16002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687568" y="162763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Sihle Mofokeng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87568" y="193852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and CTO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19472" y="23317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Fullstack developer. 4 years professional experience.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19472" y="257860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Pace Academy end-to-end. Owns all technical architecture, infrastructure, and engineering decisions.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19472" y="3218688"/>
            <a:ext cx="3749040" cy="0"/>
          </a:xfrm>
          <a:prstGeom prst="line">
            <a:avLst/>
          </a:prstGeom>
          <a:noFill/>
          <a:ln w="9525">
            <a:solidFill>
              <a:srgbClr val="2B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33101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Platform Engineering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19472" y="36576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Code Execution Engine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19472" y="40050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Video and Analytics Systems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19472" y="435254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QCTO Technical Compliance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" y="4974336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seeking: Head of Sales and Partnerships — someone who knows the SA institution and SETA landscape.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Academy  |  Powered by Pace Tech  |  Johannesburg 2026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B5CE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B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THE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38404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of 2030.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five years, every skilled South African — a plumber, a data scientist,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makeup artist, a chef — has a Pace Academy profile and a digital course.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938528"/>
            <a:ext cx="8321040" cy="1417320"/>
          </a:xfrm>
          <a:prstGeom prst="roundRect">
            <a:avLst>
              <a:gd name="adj" fmla="val 7742"/>
            </a:avLst>
          </a:prstGeom>
          <a:solidFill>
            <a:srgbClr val="1E2D4A"/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29968"/>
            <a:ext cx="7955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Africa of 2030 will be defined by the skills we build today. The tools to build those skills do not yet exist in a form that works for African educators. Pace Academy exists to change that. Not by copying a Silicon Valley product. By building something new, from here, for here. We have already built the hardest part. Now we need the fuel to grow 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3520440"/>
            <a:ext cx="3950208" cy="1298448"/>
          </a:xfrm>
          <a:prstGeom prst="roundRect">
            <a:avLst>
              <a:gd name="adj" fmla="val 7042"/>
            </a:avLst>
          </a:prstGeom>
          <a:solidFill>
            <a:srgbClr val="142038"/>
          </a:solidFill>
          <a:ln w="9525">
            <a:solidFill>
              <a:srgbClr val="2B5C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6118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Dono  ·  Co-Founder and CEO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38953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Adamdono100@gmail.com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6928" y="41330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paceacademy.onrender.com  |  pacetech.dev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82312" y="3520440"/>
            <a:ext cx="3950208" cy="1298448"/>
          </a:xfrm>
          <a:prstGeom prst="roundRect">
            <a:avLst>
              <a:gd name="adj" fmla="val 7042"/>
            </a:avLst>
          </a:prstGeom>
          <a:solidFill>
            <a:srgbClr val="142038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6118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Sihle Mofokeng  ·  Co-Founder and CTO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38953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mofokengsihle63@gmail.com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37760" y="41330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paceacademy.onrender.com  |  pacetech.dev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2026-08-22T13:43:55Z</dcterms:created>
  <dcterms:modified xsi:type="dcterms:W3CDTF">2026-08-22T13:43:55Z</dcterms:modified>
</cp:coreProperties>
</file>